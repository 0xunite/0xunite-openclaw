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8" r:id="rId29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推荐指数（越高越适合先练手）</c:v>
                </c:pt>
              </c:strCache>
            </c:strRef>
          </c:tx>
          <c:spPr>
            <a:solidFill>
              <a:srgbClr val="2D66F5"/>
            </a:solidFill>
          </c:spPr>
          <c:cat>
            <c:strRef>
              <c:f>Sheet1!$A$2:$A$6</c:f>
              <c:strCache>
                <c:ptCount val="5"/>
                <c:pt idx="0">
                  <c:v>菲律宾</c:v>
                </c:pt>
                <c:pt idx="1">
                  <c:v>泰国</c:v>
                </c:pt>
                <c:pt idx="2">
                  <c:v>越南</c:v>
                </c:pt>
                <c:pt idx="3">
                  <c:v>英国</c:v>
                </c:pt>
                <c:pt idx="4">
                  <c:v>美国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82</c:v>
                </c:pt>
                <c:pt idx="2">
                  <c:v>75</c:v>
                </c:pt>
                <c:pt idx="3">
                  <c:v>58</c:v>
                </c:pt>
                <c:pt idx="4">
                  <c:v>50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3552" cy="685800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7498079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D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685800"/>
            <a:ext cx="146304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749808"/>
            <a:ext cx="1188720" cy="2194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v2.3 终级版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676656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/>
              <a:t>韩国主体切入TikTok Shop：</a:t>
            </a:r>
          </a:p>
          <a:p>
            <a:r>
              <a:rPr sz="2400" b="1"/>
              <a:t>本土机会判断与SEA跨境实操指南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816352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把“韩国本土闭环”与“韩国主体做SEA跨境”彻底拆开讲。</a:t>
            </a:r>
          </a:p>
          <a:p>
            <a:r>
              <a:t>重点回答：谁能做、先做哪条路、怎么避坑、如何低成本练手。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适用对象</a:t>
            </a:r>
          </a:p>
          <a:p>
            <a:r>
              <a:t>• 韩国公司/韩国常住华人</a:t>
            </a:r>
          </a:p>
          <a:p>
            <a:r>
              <a:t>• 想做 TikTok Shop 或跨境内容电商的新手</a:t>
            </a:r>
          </a:p>
          <a:p>
            <a:r>
              <a:t>• 需要备选平台练手的人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9144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修订重点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1417320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路径分流</a:t>
            </a:r>
          </a:p>
          <a:p>
            <a:r>
              <a:t>2. 本土闭环谨慎披露</a:t>
            </a:r>
          </a:p>
          <a:p>
            <a:r>
              <a:t>3. SEA跨境作为主路径</a:t>
            </a:r>
          </a:p>
          <a:p>
            <a:r>
              <a:t>4. VAT与合规加强免责声明</a:t>
            </a:r>
          </a:p>
          <a:p>
            <a:r>
              <a:t>5. 新手品类/决策树/亚马逊备选新增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5989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2026 / v2.3 终级版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t>韩国TikTokShop从0到1指南 v2.3 · 最终审校版</a:t>
            </a:r>
          </a:p>
          <a:p>
            <a:r>
              <a:t>本指南基于公开规则与行业实践整理，政策/费率/开放范围以最新官方公告为准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Page 1 of 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30000"/>
            <a:ext cx="52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FF4D6A"/>
                </a:solidFill>
                <a:latin typeface="Arial Unicode MS"/>
              </a:rPr>
              <a:t>本指南经过3轮GPT专业审核 | 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1. 路径分流页：先别混，先选路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58200" y="146304"/>
            <a:ext cx="3200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核心修正页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1. 路径分流页：先别混，先选路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3505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3505200" cy="384048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170432"/>
            <a:ext cx="332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A. 韩国本土闭环（待官方进一步明确）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572768"/>
            <a:ext cx="3276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适合：有韩国本地公司、仓、客服、税务能力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现状：信息披露不稳定，需以 TikTok 官方公告/邀请为准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判断：不是新手第一条路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2440" y="1097280"/>
            <a:ext cx="3505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82440" y="1097280"/>
            <a:ext cx="3505200" cy="384048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2168" y="1170432"/>
            <a:ext cx="332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B. 韩国主体做 SEA 跨境（主路径）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0456" y="1572768"/>
            <a:ext cx="3276600" cy="12801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适合：想快速起量、先做SEA（东南亚）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优势：相较韩国本土闭环，韩国主体切入SEA（东南亚）跨境在当前阶段通常更容易落地，但仍需逐站核验开放资格、收款与物流要求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强提醒：韩国主体做SEA跨境并不等于所有站点都可直接开通。开放资格、所需资料、服务商链路和收款条件需按站点逐一核验。不要把“可以做”理解成“今天就能无障碍开通”。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判断：当前最值得从 0 到 1 跑通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6240" y="1097280"/>
            <a:ext cx="3505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16240" y="1097280"/>
            <a:ext cx="350520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5968" y="1170432"/>
            <a:ext cx="3322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C. 反向海淘（韩国→中国）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4256" y="1572768"/>
            <a:ext cx="3276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适合：有韩国商品资源/内容种草能力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打法：小红书/抖音种草 + 预售/代发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判断：不是 TikTok Shop 主线，但能补现金流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46120"/>
            <a:ext cx="54406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246120"/>
            <a:ext cx="109728" cy="237744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319272"/>
            <a:ext cx="5166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新手决策树（身份→预算→品类→市场）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657600"/>
            <a:ext cx="512064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身份：若无可用韩国主体/长期签证合规条件，先不要碰韩国本土闭环。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预算：&lt;300万韩元先轻SKU + 小批量测品；&gt;800万韩元再考虑韩国本地仓。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品类：优先低客诉、低监管、低侵权；避开功能性化妆品、食品、儿童高监管品。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市场：先 SEA 跨境跑模型，再评估韩国本土闭环或反向海淘。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2461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246120"/>
            <a:ext cx="109728" cy="2377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3319272"/>
            <a:ext cx="4937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一句话结论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657600"/>
            <a:ext cx="4892040" cy="19202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把“韩国本土闭环机会”当中长期 option，把“韩国主体做 SEA”当当前主战场。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如果你连选品、内容、履约都没跑通，先别上高监管本土闭环，容易烧钱。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Amazon与TikTok Shop运营逻辑不同，Amazon仅作补充认知，不建议混为同一条起盘路径。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2 of 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💡 本页要点：最适合新手的路径是韩国主体+SEA跨境，不是等韩国本土闭环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2. 韩国TikTok内容消费环境：有流量机会，但Shop落地仍需谨慎核验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09728" cy="2103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170432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市场判断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16636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韩国用户对短视频内容消费强，但电商心智长期被 Coupang、Naver、11Street 等平台教育。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TikTok 的优势是“内容驱动冲动购买”，不是“搜索驱动的标准化货架”。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因此：爆品机会存在，但转化效率、履约体验、平台规则波动都比成熟货架平台更敏感。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97280"/>
            <a:ext cx="109728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170432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风险提示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16636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不要把“韩国用户喜欢 TikTok”直接等同于“韩国本土 TikTok Shop 已完全成熟”。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支付、物流、税务、消费者保护、平台灰度开放节奏，都可能影响落地细节。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凡是涉及韩国本土闭环能力，必须按最新官方 Seller Center 页面/邀请政策复核。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1099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109728" cy="192024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547872"/>
            <a:ext cx="108356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操盘建议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10789920" cy="1463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从内容传播与冲动消费特征看，以下方向更容易做出素材：高颜值家居、生活方式、轻小件配饰、宠物用品、礼品类、非强功效型美妆工具；但是否可售、是否可入驻，仍需以站点类目规则为准。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不适合新手：功能性化妆品、食品保健、儿童用品、带认证的电子产品、任何灰色 IP 周边。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先用“内容测试→小单履约→复购验证”跑通，再谈扩仓、扩人、扩国家。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3 of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💡 本页要点：有流量≠Shop已成熟，入局前先核验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3. Korea → SEA Cross-border：当前最可执行的主路径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9728" cy="2194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16152"/>
            <a:ext cx="4983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为什么它是主路径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9377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相比韩国本土闭环，SEA（东南亚）市场对“内容电商 + 跨境履约”接受度更高。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韩国主体切入，能借“韩系审美/韩货心智/韩国公司背书”做差异化。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新手最重要的是跑通模型，不是第一天就挑战最复杂监管。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143000"/>
            <a:ext cx="5486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143000"/>
            <a:ext cx="109728" cy="2194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216152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推荐打法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5166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先选 1–2 个国家做 MVP，不建议一开始同时开太多市场。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优先轻小件、低售后、内容好演示的 SKU：家居小工具、收纳、宠物、小配件。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使用统一素材底稿，再按越南/泰国/菲律宾语言与价格带做二次本地化。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11880"/>
            <a:ext cx="10972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611880"/>
            <a:ext cx="109728" cy="1828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685032"/>
            <a:ext cx="10698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底线提醒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106527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SEA 跨境“可执行”不等于“无门槛”：仍然要验证站点开放资格、跨境收款、类目限制、当地税务与进口要求。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如果官方路径更新，优先看 TikTok 官方入驻页和 Seller Academy，而不是中介口径。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4 of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💡 本页要点：这条路当前更可执行，但也要逐站核验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4. 费用结构：先算毛利，再谈起盘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219456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21031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成本项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1143000"/>
            <a:ext cx="292608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1188720"/>
            <a:ext cx="28346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常见区间/判断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143000"/>
            <a:ext cx="274320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1188720"/>
            <a:ext cx="2651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关键备注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143000"/>
            <a:ext cx="297180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1188720"/>
            <a:ext cx="2880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新手建议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18488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64208"/>
            <a:ext cx="21031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平台佣金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1618488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1664208"/>
            <a:ext cx="2834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按站点/类目浮动，常见约 2%–15%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1618488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1664208"/>
            <a:ext cx="2651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以官方费率表为准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618488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664208"/>
            <a:ext cx="2880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测品时按高值预估，别按最低值算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093976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139696"/>
            <a:ext cx="21031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支付/收款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2093976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360" y="2139696"/>
            <a:ext cx="2834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支付处理+提现+汇损合计常见 2%–4%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2093976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40" y="2139696"/>
            <a:ext cx="2651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不同 PSP / 币种差异大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2093976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2139696"/>
            <a:ext cx="2880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必须把汇率损耗单独列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569464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615184"/>
            <a:ext cx="21031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物流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2569464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0360" y="2615184"/>
            <a:ext cx="28346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跨境头程 + 尾程 + 逆向退货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2569464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6440" y="2615184"/>
            <a:ext cx="2651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低客单价最容易被物流吃掉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2569464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2615184"/>
            <a:ext cx="2880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轻小件优先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044952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090672"/>
            <a:ext cx="21031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内容投放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3044952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80360" y="3090672"/>
            <a:ext cx="283464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短视频样品 / 达人佣金 / 广告加热 / 样品与素材试错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3044952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06440" y="3090672"/>
            <a:ext cx="265176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样品/内容试错成本常被低估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3044952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3090672"/>
            <a:ext cx="288036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冷启动阶段需单列预算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3520440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3566160"/>
            <a:ext cx="21031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仓储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3520440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80360" y="3566160"/>
            <a:ext cx="2834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韩国本地仓更快但更贵；跨境仓更灵活但时效弱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60720" y="3520440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06440" y="3566160"/>
            <a:ext cx="2651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按周转率算，不只看单价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0" y="3520440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49640" y="3566160"/>
            <a:ext cx="2880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先小量试仓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4434840"/>
            <a:ext cx="10972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58368" y="4434840"/>
            <a:ext cx="109728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6" y="4507992"/>
            <a:ext cx="10698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免责声明（必须强化）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" y="4846320"/>
            <a:ext cx="10652760" cy="6400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免责声明（必须强化）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P5 已删除“必须接入 Naver Pay / KakaoPay”的错误表述。它们很重要，但是否必须接入，取决于站点开放能力、服务商和当期平台配置，不可绝对化。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本页费用为结构提示，实际费率以平台最新公告为准。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5 of 23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💡 本页要点：除了佣金，还有汇损、退货、内容成本要算进去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5510000"/>
            <a:ext cx="10500000" cy="4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>
                <a:solidFill>
                  <a:srgbClr val="404040"/>
                </a:solidFill>
              </a:rPr>
              <a:t>案例：手机壳客单价$20，佣金10%，网关2%，运费$3，采购成本$6</a:t>
            </a:r>
          </a:p>
          <a:p>
            <a:pPr algn="l"/>
            <a:r>
              <a:rPr sz="950">
                <a:solidFill>
                  <a:srgbClr val="404040"/>
                </a:solidFill>
              </a:rPr>
              <a:t>→ 实际毛利 = $20 - $2(佣金) - $0.4(网关) - $3(运费) - $6(采购) = $8.6</a:t>
            </a:r>
          </a:p>
          <a:p>
            <a:pPr algn="l"/>
            <a:r>
              <a:rPr sz="950">
                <a:solidFill>
                  <a:srgbClr val="404040"/>
                </a:solidFill>
              </a:rPr>
              <a:t>→ 毛利率约43%（不含广告、退货、仓储损耗）</a:t>
            </a:r>
          </a:p>
          <a:p>
            <a:pPr algn="l"/>
            <a:r>
              <a:rPr sz="950">
                <a:solidFill>
                  <a:srgbClr val="404040"/>
                </a:solidFill>
              </a:rPr>
              <a:t>→ 结论：定价时要预留足够利润空间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5. 新手适合品类 vs 不适合品类（新增）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3891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适合新手切入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983480" cy="3931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适合新手≠无侵权/无监管，仍须逐项核查商标、外观专利、材质合规与平台禁限售规则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/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家居收纳 / 厨房小工具：内容展示直观，决策快。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手机壳、桌面配件、线材收纳：轻、小、易寄；需避开品牌外观侵权、兼容性夸大。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宠物玩具/宠物清洁小用品：复购潜力强。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礼品、小饰品、节日氛围商品：容易做情绪价值内容。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非功能性美妆工具：如化妆刷收纳、美妆镜、发饰；需核查材质安全与功效宣称边界。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97280"/>
            <a:ext cx="109728" cy="4389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170432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不适合新手切入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16636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功能性化妆品：涉及 MFDS/宣称/成分风险，新手不要从这里开局。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食品、保健品、儿童用品：高投诉 + 高监管。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带电/无线/认证类电子：认证、售后、运输都麻烦。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服装鞋靴：尺码退货和库存压力大。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非授权 K-Pop 周边 / 擦边 IP：侵权风险高，已明确删除。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6 of 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💡 本页要点：新手先从低监管、低侵权、低售后品类起步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6. 韩国企业注册流程：先把主体搭稳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170432"/>
            <a:ext cx="3200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流程顺序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315468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1) 确认签证/身份允许创业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2) 设立个人事业者或法人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3) 开企业银行账户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4) 准备税务登记/发票/合同模板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5) 准备 TikTok / 收款 / 仓配资料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0972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170432"/>
            <a:ext cx="3200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常见材料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508760"/>
            <a:ext cx="315468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营业执照/法人资料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韩国手机号与联系邮箱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银行账户与可扣费信用卡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受益所有人/实际经营人信息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办公地址、退货地址、经营范围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972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097280"/>
            <a:ext cx="109728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170432"/>
            <a:ext cx="3200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常见踩坑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508760"/>
            <a:ext cx="3154680" cy="4023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以不具备经营资格的签证身份直接开店。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主体、收款、仓库、联系人信息不一致。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把个人账户拿来收商业流水。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没把税务代理和后续申报安排好就先开卖。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主体形式、开户可行性、经营范围和税务负担，需结合签证身份、预计流水、团队结构综合判断，不建议只因“快”就草率选择。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7 of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💡 本页要点：先确认身份能注册什么形式，再启动别乱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7. TikTok Shop 入驻（A）：SEA 跨境版，可执行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170432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建议流程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983480" cy="4023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确认韩国主体是否满足当前跨境站点开放条件。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准备企业资料、联系人、收款账户、退货地址、主营类目说明。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先开 1–2 个目标市场，优先选择规则相对清晰、语言/物流/收款更容易打通的1-2个站点。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新手可先从 5–10 个标准化 SKU 起步，配合 20–30 条测试素材跑点击与转化。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把客服 SLA、逆向退货和差评 SOP 同时搭起来。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170432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审核重点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498348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主体真实性、类目适配、素材合规、物流承诺和收款链路。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高风险词：功效夸大、医疗暗示、侵权素材、灰色品牌擦边。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如果走服务商/代运营路径，必须分清：谁是店铺主体，谁负责税务，谁承担违规。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8 of 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💡 本页要点：先开1-2个站点测款，不要一上来全开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8. TikTok Shop 入驻（B）：韩国本土版，暂按“待官方定型”处理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9728" cy="44805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170432"/>
            <a:ext cx="4937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为什么要单独拆页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489204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v1.2 最大问题就是把“韩国本土闭环”与“韩国主体做 SEA”混为一谈。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韩国本土闭环涉及更强的本地支付、物流、客服、消费者保护与税务能力。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而且平台开放节奏、具体规则披露，可能阶段性变化。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97280"/>
            <a:ext cx="109728" cy="4480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170432"/>
            <a:ext cx="4937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当前正确说法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89204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可以持续关注，但不要把它当成当前新手的默认入口。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任何“已经完全开放、流程固定、某支付方式必须接入”的说法，都要重新核验。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若你已经有韩国本地仓、韩语客服、税务与退货能力，再考虑试点。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9 of 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💡 本页要点：本土闭环还没成熟，别当主线来做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9. 仓储与物流：速度是转化率的一部分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FF4D6A"/>
                </a:solidFill>
                <a:latin typeface="Arial Unicode MS"/>
              </a:rPr>
              <a:t>方案 A：韩国本地仓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3375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优点：时效快、退货处理顺、用户体验更稳定。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缺点：压货、仓租、尾程、库存不准都会吃利润。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适合：爆款验证后，稳定周销再上。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09728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170432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FF4D6A"/>
                </a:solidFill>
                <a:latin typeface="Arial Unicode MS"/>
              </a:rPr>
              <a:t>方案 B：跨境直发 / 中转仓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508760"/>
            <a:ext cx="33375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优点：试错便宜，适合前期测品。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缺点：时效慢、退货难、体验差。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适合：轻小件、小批量、多款测试。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097280"/>
            <a:ext cx="3200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097280"/>
            <a:ext cx="109728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13648" y="1170432"/>
            <a:ext cx="2926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物流 KPI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1508760"/>
            <a:ext cx="2880360" cy="4023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准时发货率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签收时效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破损率/丢件率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逆向退货成本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因物流导致的差评率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清关异常率 / 拒收率 / 尾程妥投率是核心KPI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10 of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💡 本页要点：新手先小批量测，不行就换方案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10. 内容创作：别把一种素材语言套所有市场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394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9728" cy="4389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16152"/>
            <a:ext cx="5120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韩国本土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5074920" cy="3931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韩国用户偏好：前 3 秒更快，先给结果、反差或痛点。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镜头语言：更干净、更生活方式化，少土味字幕。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评论区脚本：常见质疑、发货时效、退换政策必须提前设计回复。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同一条素材至少做 3 个版本：封面、开头、价格锚点不同。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57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143000"/>
            <a:ext cx="109728" cy="43891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1216152"/>
            <a:ext cx="49834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SEA（东南亚）跨境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937760" cy="3931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按站点做语言、价格锚点、节日场景本地化。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同一产品素材结构可复用，但字幕/配音/开场钩子必须本地化。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越南、泰国、菲律宾等站点不能只靠直译，要按当地消费语境重写。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先验证素材语言，再放大投放。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11 of 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💡 本页要点：素材结构可复用，但字幕配音必须本地化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11. 客服与售后：差评不是客服问题，是系统问题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客服体系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502920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设定 24 小时内响应目标；高峰期要有 FAQ + AI + 人工兜底。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把发货、延误、退款、换货、质保话术标准化。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敏感投诉必须升级：物流破损、功效争议、侵权投诉、平台处罚。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109728" cy="4480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170432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售后底线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502920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先定义“哪些商品支持无理由、哪些只能质量退”。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发货前拍照/录视频留档，给恶意退货留证据。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把差评原因归因到 SKU、素材、物流、客服四类，而不是只怪客服。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12 of 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💡 本页要点：差评处理要快，24小时是底线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12. 财务合规与间接税（VAT/GST/Sales Tax）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0972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10698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核心免责声明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10652760" cy="1463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不同国家的间接税制度并不相同。韩国本地主体税务、目标销售国的VAT/GST、平台代扣机制、进口申报责任可能同时存在，不能用一个“VAT”概念打包理解。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下面仅作经营判断框架，不构成税务意见；正式开卖前，必须让韩国税务师 + 目标市场本地顾问复核。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109728" cy="2103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319272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实操重点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498348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主体、收款、开票、报税口径要统一。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跨境平台代扣 ≠ 你可以完全不管税务台账。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每周看毛利，不要等季度报税才发现亏损。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46120"/>
            <a:ext cx="53949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246120"/>
            <a:ext cx="109728" cy="2103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3319272"/>
            <a:ext cx="51206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红线提醒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657600"/>
            <a:ext cx="5074920" cy="1645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个人账户收商业款、混用公私流水、虚报货值、拿“代扣税”当全部税务答案，都是高危操作。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平台代扣税费通常只覆盖部分环节，不等于免除台账、申报、进口合规和主体责任。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英国/美国亚马逊还涉及 VAT / Sales Tax、EPR、进口商记录等额外问题。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13 of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💡 本页要点：平台代扣≠你不用管税务，台账要留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13. 新手冷启动 Q&amp;A：先求跑通，不求一步到位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3291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FF4D6A"/>
                </a:solidFill>
                <a:latin typeface="Arial Unicode MS"/>
              </a:rPr>
              <a:t>Q1：0 单正常吗？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24612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正常。新号需要时间建立标签。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先看点击率、完播率、加购率，不要只看出单。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同款 3–5 个素材版本轮测。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09728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170432"/>
            <a:ext cx="3291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FF4D6A"/>
                </a:solidFill>
                <a:latin typeface="Arial Unicode MS"/>
              </a:rPr>
              <a:t>Q2：要不要先投广告？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508760"/>
            <a:ext cx="3246120" cy="4023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可以，但只给“已经有自然点击苗头”的素材加热。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不要拿广告去救一个没有内容吸引力的产品。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先设测试周期、素材数量、预算上限和停投条件。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09728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097280"/>
            <a:ext cx="109728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1170432"/>
            <a:ext cx="3108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FF4D6A"/>
                </a:solidFill>
                <a:latin typeface="Arial Unicode MS"/>
              </a:rPr>
              <a:t>Q3：多久扩品/扩站？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508760"/>
            <a:ext cx="306324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至少先跑出 1 个可复制 SKU。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单店 SOP 稳定后再扩国家。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没有后台数据就扩张，通常死得更快。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14 of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💡 本页要点：先设止损线，数据不达标就换方向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14. 恶意退货 / 恶意投诉应对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349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9728" cy="4389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16152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恶意退货 SOP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502920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高风险商品打包全程留档。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收回退货时开箱录像、称重、拍细节。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把“可二次销售 / 不可二次销售”标准写清。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证据链齐全后通过平台工单申诉。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349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109728" cy="4389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216152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恶意投诉 SOP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5029200" cy="3931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先分类型：侵权、虚假宣传、竞品举报、物流时效。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侵权类先下架核查，不要嘴硬。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能提供原创素材、授权书、供货链证明的，胜率更高。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维权记录要沉淀成内部风险案例库，形成高风险SKU/素材/供应商复盘机制。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15 of 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💡 本页要点：打包留证据，申诉才有力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15. 华人身份合规：F-5 是重点，但不是唯一答案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高风险身份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3375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D-2 / D-4 / D-10 等通常不适合直接从事盈利经营。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不要用侥幸心理拿别人主体、自己暗中经营。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签证问题比店铺问题更严重。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09728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170432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相对稳妥身份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508760"/>
            <a:ext cx="33375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F-5（永驻）通常具备较强经营稳定性。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F-6、部分 F-2 类型通常更适合创业，但仍需核对个人条件。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最稳的做法：先确认身份权限，再注册主体。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097280"/>
            <a:ext cx="3200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097280"/>
            <a:ext cx="109728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13648" y="1170432"/>
            <a:ext cx="2926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一句提醒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1508760"/>
            <a:ext cx="2880360" cy="4023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主体合规 &gt; 选品速度。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别为了快，把签证和税务埋雷。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本页仅作风险提醒，不构成法律意见，具体以韩国出入境/行政士/专业顾问意见为准。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16 of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💡 本页要点：F-5可创业，但税务主体要合规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16. 华人双向机遇：韩国→SEA / 反向海淘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349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9728" cy="43891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16152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方向 1：韩国→SEA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502920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卖“韩系审美 + 韩国主体背书 + 内容电商表达”。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适合做家居、配件、宠物、小礼品、非功效型美妆工具。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重点是多语言内容和跨境履约，而不是压大库存。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349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109728" cy="4389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216152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方向 2：韩国→中国反向海淘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5029200" cy="3931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适合小众品牌、线下发现、买手式内容。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玩法是内容种草 + 预售/代发，不一定依赖 TikTok Shop。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优点是更懂中韩语言与文化落差，容易做出差异化内容。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该路径更适合作为补充现金流或内容选品能力的延伸，不宜与TikTok Shop主线混作同一套履约与合规模型。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17 of 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💡 本页要点：反向海淘是补充路径，不是主线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17. 建议时间表：别把 2 个月的事想成 2 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201168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920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阶段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143000"/>
            <a:ext cx="365760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80" y="1188720"/>
            <a:ext cx="3566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目标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43000"/>
            <a:ext cx="283464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188720"/>
            <a:ext cx="2743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关键动作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143000"/>
            <a:ext cx="265176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188720"/>
            <a:ext cx="25603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通过标准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18488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64208"/>
            <a:ext cx="1920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第 1–2 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618488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664208"/>
            <a:ext cx="3566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确定路径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618488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664208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身份核查、主体准备、市场选择、预算表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618488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664208"/>
            <a:ext cx="25603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知道先做哪条路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093976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139696"/>
            <a:ext cx="1920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第 3–6 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2093976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2139696"/>
            <a:ext cx="3566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完成准备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093976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139696"/>
            <a:ext cx="2743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开主体/收款/物流方案/素材规划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2093976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2139696"/>
            <a:ext cx="25603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能提交入驻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569464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615184"/>
            <a:ext cx="1920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第 2–3 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2569464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80" y="2615184"/>
            <a:ext cx="3566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冷启动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569464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2615184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上 SKU、拍素材、测广告、跑客服 SOP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2569464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2615184"/>
            <a:ext cx="25603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出现首批稳定订单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044952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090672"/>
            <a:ext cx="1920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第 3–4 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3044952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97480" y="3090672"/>
            <a:ext cx="3566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优化模型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044952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3090672"/>
            <a:ext cx="2743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砍差品、补高转化品、优化履约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044952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3090672"/>
            <a:ext cx="25603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毛利结构变清晰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3520440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3566160"/>
            <a:ext cx="1920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第 4 月以后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51760" y="3520440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97480" y="3566160"/>
            <a:ext cx="3566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放大复制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3520440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566160"/>
            <a:ext cx="2743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扩站点、扩达人、扩库存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0" y="3520440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89720" y="3566160"/>
            <a:ext cx="25603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在已有利润上扩张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852160"/>
            <a:ext cx="108356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/>
              <a:t>时间表为理想节奏示意，实际进度受主体办理、开户、站点审核、物流/收款打通情况影响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18 of 23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💡 本页要点：时间线只是参考，达标才是标准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18. 开业核对清单：分层做，不要一起炸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657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57200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开店前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337560" cy="411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身份/签证是否允许经营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主体、银行、收款是否打通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目标市场与目标品类是否选定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税务代理 / 记账方案是否确定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097280"/>
            <a:ext cx="3657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097280"/>
            <a:ext cx="109728" cy="4572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170432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出单前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508760"/>
            <a:ext cx="3337560" cy="4114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新手可按资源从少量SKU起步，重点确保每个SKU都有可测试的多版本素材，而不是为了数量而铺货。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客服 FAQ / 退换货规则 / 差评 SOP 先写清。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发货时效与退货地址必须提前说明。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097280"/>
            <a:ext cx="3200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097280"/>
            <a:ext cx="109728" cy="457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13648" y="1170432"/>
            <a:ext cx="2926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放大前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1508760"/>
            <a:ext cx="2880360" cy="411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已有盈利 SKU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退款率/投诉率可控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广告投产比可验证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现金流能覆盖补货周期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19 of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💡 本页要点：按优先级做事，不要一起铺开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Arial Unicode MS"/>
              </a:rPr>
              <a:t>19. 新手最小可行起步方案（MVP）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目标：先跑通最小闭环，不要一上来铺大摊子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429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A1A2E"/>
                </a:solidFill>
                <a:latin typeface="Arial Unicode MS"/>
              </a:rPr>
              <a:t>① 选1个目标市场（优先：菲律宾/泰国，规则清晰、语言相对友好）</a:t>
            </a:r>
          </a:p>
          <a:p>
            <a:r>
              <a:rPr sz="1700" b="0">
                <a:solidFill>
                  <a:srgbClr val="1A1A2E"/>
                </a:solidFill>
                <a:latin typeface="Arial Unicode MS"/>
              </a:rPr>
              <a:t>② 选1个低监管类目（配件/家居/小工具，不碰化妆品/食品）</a:t>
            </a:r>
          </a:p>
          <a:p>
            <a:r>
              <a:rPr sz="1700" b="0">
                <a:solidFill>
                  <a:srgbClr val="1A1A2E"/>
                </a:solidFill>
                <a:latin typeface="Arial Unicode MS"/>
              </a:rPr>
              <a:t>③ 上5~10个标准化SKU（不要铺货，每个有图有视频）</a:t>
            </a:r>
          </a:p>
          <a:p>
            <a:r>
              <a:rPr sz="1700" b="0">
                <a:solidFill>
                  <a:srgbClr val="1A1A2E"/>
                </a:solidFill>
                <a:latin typeface="Arial Unicode MS"/>
              </a:rPr>
              <a:t>④ 做20~30条测试素材（多版本测试，不要一套素材打天下）</a:t>
            </a:r>
          </a:p>
          <a:p>
            <a:r>
              <a:rPr sz="1700" b="0">
                <a:solidFill>
                  <a:srgbClr val="1A1A2E"/>
                </a:solidFill>
                <a:latin typeface="Arial Unicode MS"/>
              </a:rPr>
              <a:t>⑤ 测试周期：2~4周</a:t>
            </a:r>
          </a:p>
          <a:p>
            <a:r>
              <a:rPr sz="1700" b="0">
                <a:solidFill>
                  <a:srgbClr val="1A1A2E"/>
                </a:solidFill>
                <a:latin typeface="Arial Unicode MS"/>
              </a:rPr>
              <a:t>⑥ 看4个核心指标：</a:t>
            </a:r>
          </a:p>
          <a:p>
            <a:r>
              <a:rPr sz="1700" b="0">
                <a:solidFill>
                  <a:srgbClr val="1A1A2E"/>
                </a:solidFill>
                <a:latin typeface="Arial Unicode MS"/>
              </a:rPr>
              <a:t>   - 点击率（CTR）&lt; 1%：换素材或换品</a:t>
            </a:r>
          </a:p>
          <a:p>
            <a:r>
              <a:rPr sz="1700" b="0">
                <a:solidFill>
                  <a:srgbClr val="1A1A2E"/>
                </a:solidFill>
                <a:latin typeface="Arial Unicode MS"/>
              </a:rPr>
              <a:t>   - 加购率 &lt; 3%：优化详情页</a:t>
            </a:r>
          </a:p>
          <a:p>
            <a:r>
              <a:rPr sz="1700" b="0">
                <a:solidFill>
                  <a:srgbClr val="1A1A2E"/>
                </a:solidFill>
                <a:latin typeface="Arial Unicode MS"/>
              </a:rPr>
              <a:t>   - 首单率（看过加购到付款）&lt; 30%：优化价格/促销</a:t>
            </a:r>
          </a:p>
          <a:p>
            <a:r>
              <a:rPr sz="1700" b="0">
                <a:solidFill>
                  <a:srgbClr val="1A1A2E"/>
                </a:solidFill>
                <a:latin typeface="Arial Unicode MS"/>
              </a:rPr>
              <a:t>   - 退款率 &gt; 5%：检查产品/详情页描述</a:t>
            </a:r>
          </a:p>
          <a:p>
            <a:r>
              <a:rPr sz="1700" b="0">
                <a:solidFill>
                  <a:srgbClr val="1A1A2E"/>
                </a:solidFill>
                <a:latin typeface="Arial Unicode MS"/>
              </a:rPr>
              <a:t>以上为新手初筛参考值，实际阈值应根据站点/类目/客单价/竞争环境动态调整</a:t>
            </a:r>
          </a:p>
          <a:p>
            <a:r>
              <a:rPr sz="1700" b="0">
                <a:solidFill>
                  <a:srgbClr val="1A1A2E"/>
                </a:solidFill>
                <a:latin typeface="Arial Unicode MS"/>
              </a:rPr>
              <a:t>⑦ 达标才扩品/扩站，不达标先优化再继续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71500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00F272"/>
                </a:solidFill>
                <a:latin typeface="Arial Unicode MS"/>
              </a:rPr>
              <a:t>核心原则：先验证产品与内容模型，再扩张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0"/>
            <a:ext cx="8686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20 of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020000"/>
            <a:ext cx="8800000" cy="2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💡 本页要点：先跑通最小闭环，再扩品扩站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t>20. 亚马逊：把“销售站点”与“卖家主体所在地”分开理解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100584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9144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200" b="1">
                <a:solidFill>
                  <a:srgbClr val="FF4D6A"/>
                </a:solidFill>
                <a:latin typeface="Arial Unicode MS"/>
              </a:rPr>
              <a:t>A. 目标销售站点</a:t>
            </a:r>
          </a:p>
          <a:p>
            <a:r>
              <a:rPr sz="1200" b="1">
                <a:solidFill>
                  <a:srgbClr val="FF4D6A"/>
                </a:solidFill>
                <a:latin typeface="Arial Unicode MS"/>
              </a:rPr>
              <a:t>（真正重要的维度）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1097280"/>
            <a:ext cx="192024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143000"/>
            <a:ext cx="18288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200" b="1">
                <a:solidFill>
                  <a:srgbClr val="1A1A2E"/>
                </a:solidFill>
                <a:latin typeface="Arial Unicode MS"/>
              </a:rPr>
              <a:t>🇺🇸 美国站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097280"/>
            <a:ext cx="141732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143000"/>
            <a:ext cx="132588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月费 $39.99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256032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143000"/>
            <a:ext cx="246888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多数类目佣金 8%–15%</a:t>
            </a:r>
          </a:p>
          <a:p>
            <a:r>
              <a:rPr sz="1100" b="0">
                <a:solidFill>
                  <a:srgbClr val="1A1A2E"/>
                </a:solidFill>
                <a:latin typeface="Arial Unicode MS"/>
              </a:rPr>
              <a:t>小件FBA配送费常见 $3–6.5/单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097280"/>
            <a:ext cx="214884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1143000"/>
            <a:ext cx="20574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广告 CPC 常见 $0.8–2+</a:t>
            </a:r>
          </a:p>
          <a:p>
            <a:r>
              <a:rPr sz="1100" b="0">
                <a:solidFill>
                  <a:srgbClr val="1A1A2E"/>
                </a:solidFill>
                <a:latin typeface="Arial Unicode MS"/>
              </a:rPr>
              <a:t>适合有团队后切入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72600" y="1097280"/>
            <a:ext cx="251460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143000"/>
            <a:ext cx="242316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rgbClr val="FF3A5A"/>
                </a:solidFill>
                <a:latin typeface="Arial Unicode MS"/>
              </a:rPr>
              <a:t>高门槛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572768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618488"/>
            <a:ext cx="9144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200" b="1">
                <a:solidFill>
                  <a:srgbClr val="1A1A2E"/>
                </a:solidFill>
                <a:latin typeface="Arial Unicode MS"/>
              </a:rPr>
              <a:t>🇬🇧 英国站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5880" y="1572768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1618488"/>
            <a:ext cx="18288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VAT 标准税率 20%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572768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1618488"/>
            <a:ext cx="132588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Professional 约 £25/月</a:t>
            </a:r>
          </a:p>
          <a:p>
            <a:r>
              <a:rPr sz="1100" b="0">
                <a:solidFill>
                  <a:srgbClr val="1A1A2E"/>
                </a:solidFill>
                <a:latin typeface="Arial Unicode MS"/>
              </a:rPr>
              <a:t>多数类目佣金约 8%–15%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572768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1618488"/>
            <a:ext cx="246888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小件FBA常见 £2–4.5/单</a:t>
            </a:r>
          </a:p>
          <a:p>
            <a:r>
              <a:rPr sz="1100" b="0">
                <a:solidFill>
                  <a:srgbClr val="1A1A2E"/>
                </a:solidFill>
                <a:latin typeface="Arial Unicode MS"/>
              </a:rPr>
              <a:t>EPR/UKRP需额外预算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1572768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1618488"/>
            <a:ext cx="20574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rgbClr val="FF3A5A"/>
                </a:solidFill>
                <a:latin typeface="Arial Unicode MS"/>
              </a:rPr>
              <a:t>中高门槛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72600" y="1572768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618488"/>
            <a:ext cx="242316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200" b="1">
                <a:solidFill>
                  <a:srgbClr val="1A1A2E"/>
                </a:solidFill>
                <a:latin typeface="Arial Unicode MS"/>
              </a:rPr>
              <a:t>🇯🇵 日本站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048256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2093976"/>
            <a:ext cx="9144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消费税 10%</a:t>
            </a:r>
          </a:p>
          <a:p>
            <a:r>
              <a:rPr sz="1100" b="0">
                <a:solidFill>
                  <a:srgbClr val="1A1A2E"/>
                </a:solidFill>
                <a:latin typeface="Arial Unicode MS"/>
              </a:rPr>
              <a:t>离韩近、审美相近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25880" y="2048256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2093976"/>
            <a:ext cx="18288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月费 ¥4,900+税</a:t>
            </a:r>
          </a:p>
          <a:p>
            <a:r>
              <a:rPr sz="1100" b="0">
                <a:solidFill>
                  <a:srgbClr val="1A1A2E"/>
                </a:solidFill>
                <a:latin typeface="Arial Unicode MS"/>
              </a:rPr>
              <a:t>多数类目佣金约 8%–15%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2048256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0" y="2093976"/>
            <a:ext cx="132588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小件FBA常见 ¥300–700/单</a:t>
            </a:r>
          </a:p>
          <a:p>
            <a:r>
              <a:rPr sz="1100" b="0">
                <a:solidFill>
                  <a:srgbClr val="1A1A2E"/>
                </a:solidFill>
                <a:latin typeface="Arial Unicode MS"/>
              </a:rPr>
              <a:t>广告成本通常低于美站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2048256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9160" y="2093976"/>
            <a:ext cx="246888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rgbClr val="00F272"/>
                </a:solidFill>
                <a:latin typeface="Arial Unicode MS"/>
              </a:rPr>
              <a:t>中门槛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60" y="2048256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9480" y="2093976"/>
            <a:ext cx="20574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200" b="1">
                <a:solidFill>
                  <a:srgbClr val="FF4D6A"/>
                </a:solidFill>
                <a:latin typeface="Arial Unicode MS"/>
              </a:rPr>
              <a:t>B. 卖家主体/供应链来源地</a:t>
            </a:r>
          </a:p>
          <a:p>
            <a:r>
              <a:rPr sz="1200" b="1">
                <a:solidFill>
                  <a:srgbClr val="FF4D6A"/>
                </a:solidFill>
                <a:latin typeface="Arial Unicode MS"/>
              </a:rPr>
              <a:t>（次要）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72600" y="2048256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0" y="2093976"/>
            <a:ext cx="242316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200" b="1">
                <a:solidFill>
                  <a:srgbClr val="1A1A2E"/>
                </a:solidFill>
                <a:latin typeface="Arial Unicode MS"/>
              </a:rPr>
              <a:t>越南 / 泰国 / 菲律宾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2523744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2569464"/>
            <a:ext cx="9144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更适合作为供应链或制造来源地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25880" y="2523744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2569464"/>
            <a:ext cx="18288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可借当地工厂/人工成本优势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46120" y="2523744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2569464"/>
            <a:ext cx="132588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但销售站点仍应按美/英/日单独决策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63440" y="2523744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09160" y="2569464"/>
            <a:ext cx="246888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rgbClr val="666A73"/>
                </a:solidFill>
                <a:latin typeface="Arial Unicode MS"/>
              </a:rPr>
              <a:t>次要维度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23760" y="2523744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69480" y="2569464"/>
            <a:ext cx="2057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50" name="Rectangle 49"/>
          <p:cNvSpPr/>
          <p:nvPr/>
        </p:nvSpPr>
        <p:spPr>
          <a:xfrm>
            <a:off x="9372600" y="2523744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18320" y="2569464"/>
            <a:ext cx="24231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52" name="Rectangle 51"/>
          <p:cNvSpPr/>
          <p:nvPr/>
        </p:nvSpPr>
        <p:spPr>
          <a:xfrm>
            <a:off x="320040" y="2999232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3044952"/>
            <a:ext cx="914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54" name="Rectangle 53"/>
          <p:cNvSpPr/>
          <p:nvPr/>
        </p:nvSpPr>
        <p:spPr>
          <a:xfrm>
            <a:off x="1325880" y="2999232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71600" y="3044952"/>
            <a:ext cx="18288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246120" y="2999232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91840" y="3044952"/>
            <a:ext cx="1325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58" name="Rectangle 57"/>
          <p:cNvSpPr/>
          <p:nvPr/>
        </p:nvSpPr>
        <p:spPr>
          <a:xfrm>
            <a:off x="4663440" y="2999232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09160" y="3044952"/>
            <a:ext cx="2468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60" name="Rectangle 59"/>
          <p:cNvSpPr/>
          <p:nvPr/>
        </p:nvSpPr>
        <p:spPr>
          <a:xfrm>
            <a:off x="7223760" y="2999232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69480" y="3044952"/>
            <a:ext cx="2057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62" name="Rectangle 61"/>
          <p:cNvSpPr/>
          <p:nvPr/>
        </p:nvSpPr>
        <p:spPr>
          <a:xfrm>
            <a:off x="9372600" y="2999232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18320" y="3044952"/>
            <a:ext cx="24231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64" name="Rectangle 63"/>
          <p:cNvSpPr/>
          <p:nvPr/>
        </p:nvSpPr>
        <p:spPr>
          <a:xfrm>
            <a:off x="320040" y="3474720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3520440"/>
            <a:ext cx="914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66" name="Rectangle 65"/>
          <p:cNvSpPr/>
          <p:nvPr/>
        </p:nvSpPr>
        <p:spPr>
          <a:xfrm>
            <a:off x="1325880" y="3474720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71600" y="3520440"/>
            <a:ext cx="18288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68" name="Rectangle 67"/>
          <p:cNvSpPr/>
          <p:nvPr/>
        </p:nvSpPr>
        <p:spPr>
          <a:xfrm>
            <a:off x="3246120" y="3474720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91840" y="3520440"/>
            <a:ext cx="1325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70" name="Rectangle 69"/>
          <p:cNvSpPr/>
          <p:nvPr/>
        </p:nvSpPr>
        <p:spPr>
          <a:xfrm>
            <a:off x="4663440" y="3474720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09160" y="3520440"/>
            <a:ext cx="2468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72" name="Rectangle 71"/>
          <p:cNvSpPr/>
          <p:nvPr/>
        </p:nvSpPr>
        <p:spPr>
          <a:xfrm>
            <a:off x="7223760" y="3474720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69480" y="3520440"/>
            <a:ext cx="2057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74" name="Rectangle 73"/>
          <p:cNvSpPr/>
          <p:nvPr/>
        </p:nvSpPr>
        <p:spPr>
          <a:xfrm>
            <a:off x="9372600" y="3474720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418320" y="3520440"/>
            <a:ext cx="24231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76" name="Rounded Rectangle 75"/>
          <p:cNvSpPr/>
          <p:nvPr/>
        </p:nvSpPr>
        <p:spPr>
          <a:xfrm>
            <a:off x="548640" y="4434840"/>
            <a:ext cx="11064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48640" y="4434840"/>
            <a:ext cx="109728" cy="1143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9808" y="4507992"/>
            <a:ext cx="1078992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核心结论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7240" y="4846320"/>
            <a:ext cx="1074420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200" b="1">
                <a:solidFill>
                  <a:srgbClr val="1A1A2E"/>
                </a:solidFill>
                <a:latin typeface="Arial Unicode MS"/>
              </a:rPr>
              <a:t>Amazon模块仅作补充认知：练Amazon应按目标销售站点美/英/日选择，而不是按越南/菲律宾来源地排练手顺序。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1A1A2E"/>
                </a:solidFill>
                <a:latin typeface="Arial Unicode MS"/>
              </a:rPr>
              <a:t>Page 21 of 23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" y="6035040"/>
            <a:ext cx="9000000" cy="2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💡 本页要点：Amazon和TikTok是不同逻辑，不要混着学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t>21. Amazon补充路径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2344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92240" y="1234440"/>
            <a:ext cx="4937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0" y="1234440"/>
            <a:ext cx="109728" cy="438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93408" y="1307592"/>
            <a:ext cx="46634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/>
              <a:t>为什么这么排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645920"/>
            <a:ext cx="461772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/>
              <a:t>先按难度拆解，能更快跑通基本功。</a:t>
            </a:r>
          </a:p>
          <a:p>
            <a:r>
              <a:rPr sz="1100"/>
              <a:t>别被“哪个国家更容易”这种问法带偏，真正决定新手成败的是类目监管、SKU复杂度、售后压力、税务链路和竞争强度。</a:t>
            </a:r>
          </a:p>
          <a:p>
            <a:r>
              <a:rPr sz="1100"/>
              <a:t>等低复杂度模型跑通后，再考虑进入美亚、英亚等高竞争成熟站点。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000" y="1234440"/>
            <a:ext cx="5200000" cy="43891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600" b="0">
                <a:solidFill>
                  <a:srgbClr val="1A1A2E"/>
                </a:solidFill>
                <a:latin typeface="Arial Unicode MS"/>
              </a:rPr>
              <a:t>建议顺序</a:t>
            </a:r>
          </a:p>
          <a:p/>
          <a:p>
            <a:r>
              <a:rPr sz="1600" b="0">
                <a:solidFill>
                  <a:srgbClr val="1A1A2E"/>
                </a:solidFill>
                <a:latin typeface="Arial Unicode MS"/>
              </a:rPr>
              <a:t>1. 先低监管类目（不碰化妆品/食品/功能性产品）</a:t>
            </a:r>
          </a:p>
          <a:p>
            <a:r>
              <a:rPr sz="1600" b="0">
                <a:solidFill>
                  <a:srgbClr val="1A1A2E"/>
                </a:solidFill>
                <a:latin typeface="Arial Unicode MS"/>
              </a:rPr>
              <a:t>2. 先低SKU复杂度（5-10个SKU测款，不铺货）</a:t>
            </a:r>
          </a:p>
          <a:p>
            <a:r>
              <a:rPr sz="1600" b="0">
                <a:solidFill>
                  <a:srgbClr val="1A1A2E"/>
                </a:solidFill>
                <a:latin typeface="Arial Unicode MS"/>
              </a:rPr>
              <a:t>3. 先低售后复杂度（不易损/不易退的品类）</a:t>
            </a:r>
          </a:p>
          <a:p>
            <a:r>
              <a:rPr sz="1600" b="0">
                <a:solidFill>
                  <a:srgbClr val="1A1A2E"/>
                </a:solidFill>
                <a:latin typeface="Arial Unicode MS"/>
              </a:rPr>
              <a:t>4. 先低合规门槛（相对简单的主体资质、KYC要求和税务记录即可启动）</a:t>
            </a:r>
          </a:p>
          <a:p>
            <a:r>
              <a:rPr sz="1600" b="0">
                <a:solidFill>
                  <a:srgbClr val="1A1A2E"/>
                </a:solidFill>
                <a:latin typeface="Arial Unicode MS"/>
              </a:rPr>
              <a:t>5. 最后进高竞争大站（美亚/英亚）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22 of 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💡 本页要点：Amazon适合有预算有供应链的人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22. 学习资源 + 结束页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建议盯住的官方资源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983480" cy="4023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TikTok Shop Seller Center / Seller Academy：入驻、费率、政策更新。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TikTok Shop 各目标站点费率表/禁限售页/物流履约政策页：应作为固定复核清单。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Amazon Sell US / UK / JP Pricing：月费、佣金、FBA费用。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韩国税务师/会计事务所：主体、间接税、跨境流水设计。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MFDS / 韩国国税厅 / 各市场海关与税务官网：高监管品类必须查原文。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170432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下一步 3选1</a:t>
            </a:r>
          </a:p>
          <a:p/>
          <a:p>
            <a:r>
              <a:rPr sz="1300" b="0">
                <a:solidFill>
                  <a:srgbClr val="1A1A2E"/>
                </a:solidFill>
                <a:latin typeface="Arial Unicode MS"/>
              </a:rPr>
              <a:t>1. 先选市场：菲律宾/泰国（SEA起点）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2. 先选类目：低监管品类起步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3. 先跑MVP：5-10 SKU + 20-30素材 + 2-4周验证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4983480" cy="4023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一句结论：先选一条最短路径，跑通后再放大。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t>End · v2.3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23 of 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486400"/>
            <a:ext cx="8800000" cy="2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💡 本页要点：官方信息永远比第三方经验更准确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