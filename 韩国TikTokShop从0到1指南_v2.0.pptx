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推荐指数（越高越适合先练手）</c:v>
                </c:pt>
              </c:strCache>
            </c:strRef>
          </c:tx>
          <c:spPr>
            <a:solidFill>
              <a:srgbClr val="2D66F5"/>
            </a:solidFill>
          </c:spPr>
          <c:cat>
            <c:strRef>
              <c:f>Sheet1!$A$2:$A$6</c:f>
              <c:strCache>
                <c:ptCount val="5"/>
                <c:pt idx="0">
                  <c:v>菲律宾</c:v>
                </c:pt>
                <c:pt idx="1">
                  <c:v>泰国</c:v>
                </c:pt>
                <c:pt idx="2">
                  <c:v>越南</c:v>
                </c:pt>
                <c:pt idx="3">
                  <c:v>英国</c:v>
                </c:pt>
                <c:pt idx="4">
                  <c:v>美国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</c:v>
                </c:pt>
                <c:pt idx="1">
                  <c:v>82</c:v>
                </c:pt>
                <c:pt idx="2">
                  <c:v>75</c:v>
                </c:pt>
                <c:pt idx="3">
                  <c:v>58</c:v>
                </c:pt>
                <c:pt idx="4">
                  <c:v>50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3552" cy="685800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7498079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DE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685800"/>
            <a:ext cx="146304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74980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ingFang SC"/>
              </a:rPr>
              <a:t>v2.0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6766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9244A"/>
                </a:solidFill>
                <a:latin typeface="PingFang SC"/>
              </a:rPr>
              <a:t>韩国主体切入TikTok Shop：
韩国本地机会 + 东南亚跨境路径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816352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272"/>
                </a:solidFill>
                <a:latin typeface="PingFang SC"/>
              </a:rPr>
              <a:t>把“韩国本土闭环”与“韩国主体做SEA跨境”彻底拆开讲。
重点回答：谁能做、先做哪条路、怎么避坑、如何低成本练手。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244A"/>
                </a:solidFill>
                <a:latin typeface="PingFang SC"/>
              </a:rPr>
              <a:t>适用对象
• 韩国公司/韩国常住华人
• 想做 TikTok Shop 或跨境内容电商的新手
• 需要备选平台练手的人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9144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修订重点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1417320"/>
            <a:ext cx="2148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5EBFF"/>
                </a:solidFill>
                <a:latin typeface="PingFang SC"/>
              </a:rPr>
              <a:t>1. 路径分流
2. 本地站谨慎披露
3. SEA跨境作为主路径
4. VAT与合规加强免责声明
5. 新手品类/决策树/亚马逊备选新增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5989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5CEED"/>
                </a:solidFill>
                <a:latin typeface="PingFang SC"/>
              </a:rPr>
              <a:t>2026 / 实操修订版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272"/>
                </a:solidFill>
                <a:latin typeface="PingFang SC"/>
              </a:rPr>
              <a:t>韩国TikTok Shop从0到1指南 v2.0 · 修订版封面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1. 路径分流页：先别混，先选路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58200" y="146304"/>
            <a:ext cx="3200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2DBFF"/>
                </a:solidFill>
                <a:latin typeface="Aptos"/>
              </a:rPr>
              <a:t>核心修正页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1. 路径分流页：先别混，先选路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3505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3505200" cy="384048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170432"/>
            <a:ext cx="332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ingFang SC"/>
              </a:rPr>
              <a:t>A. 韩国本土站（待官方进一步明确）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572768"/>
            <a:ext cx="3276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34"/>
                </a:solidFill>
                <a:latin typeface="PingFang SC"/>
              </a:rPr>
              <a:t>• 适合：有韩国本地公司、仓、客服、税务能力
• 现状：信息披露不稳定，需以 TikTok 官方公告/邀请为准
• 判断：不是新手第一条路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2440" y="1097280"/>
            <a:ext cx="3505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82440" y="1097280"/>
            <a:ext cx="3505200" cy="384048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2168" y="1170432"/>
            <a:ext cx="332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ingFang SC"/>
              </a:rPr>
              <a:t>B. 韩国主体做 SEA 跨境（主路径）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0456" y="1572768"/>
            <a:ext cx="3276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34"/>
                </a:solidFill>
                <a:latin typeface="PingFang SC"/>
              </a:rPr>
              <a:t>• 适合：想快速起量、先做东南亚
• 优势：韩国主体可对接东南亚市场，更可执行
• 判断：当前最值得从 0 到 1 跑通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6240" y="1097280"/>
            <a:ext cx="3505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16240" y="1097280"/>
            <a:ext cx="350520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5968" y="1170432"/>
            <a:ext cx="332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ingFang SC"/>
              </a:rPr>
              <a:t>C. 反向海淘（韩国→中国）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4256" y="1572768"/>
            <a:ext cx="3276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34"/>
                </a:solidFill>
                <a:latin typeface="PingFang SC"/>
              </a:rPr>
              <a:t>• 适合：有韩国商品资源/内容种草能力
• 打法：小红书/抖音种草 + 预售/代发
• 判断：不是 TikTok Shop 主线，但能补现金流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272"/>
                </a:solidFill>
                <a:latin typeface="PingFang SC"/>
              </a:rPr>
              <a:t>韩国TikTok Shop从0到1指南 v2.0 · 仅供商业决策参考，最终以 TikTok / Amazon / 税务监管官方规则为准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46120"/>
            <a:ext cx="54406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246120"/>
            <a:ext cx="109728" cy="237744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319272"/>
            <a:ext cx="5166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新手决策树（身份→预算→品类→市场）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6576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82E38"/>
                </a:solidFill>
                <a:latin typeface="PingFang SC"/>
              </a:defRPr>
            </a:pPr>
            <a:r>
              <a:t>身份：若无可用韩国主体/长期签证合规条件，先不要碰韩国本土闭环。</a:t>
            </a:r>
          </a:p>
          <a:p>
            <a:pPr>
              <a:spcAft>
                <a:spcPts val="400"/>
              </a:spcAft>
              <a:defRPr sz="1400">
                <a:solidFill>
                  <a:srgbClr val="282E38"/>
                </a:solidFill>
                <a:latin typeface="PingFang SC"/>
              </a:defRPr>
            </a:pPr>
            <a:r>
              <a:t>预算：&lt;300万韩元先轻SKU + 小批量测品；&gt;800万韩元再考虑韩国本地仓。</a:t>
            </a:r>
          </a:p>
          <a:p>
            <a:pPr>
              <a:spcAft>
                <a:spcPts val="400"/>
              </a:spcAft>
              <a:defRPr sz="1400">
                <a:solidFill>
                  <a:srgbClr val="282E38"/>
                </a:solidFill>
                <a:latin typeface="PingFang SC"/>
              </a:defRPr>
            </a:pPr>
            <a:r>
              <a:t>品类：优先低客诉、低监管、低侵权；避开功能性化妆品、食品、儿童高监管品。</a:t>
            </a:r>
          </a:p>
          <a:p>
            <a:pPr>
              <a:spcAft>
                <a:spcPts val="400"/>
              </a:spcAft>
              <a:defRPr sz="1400">
                <a:solidFill>
                  <a:srgbClr val="282E38"/>
                </a:solidFill>
                <a:latin typeface="PingFang SC"/>
              </a:defRPr>
            </a:pPr>
            <a:r>
              <a:t>市场：先 SEA 跨境跑模型，再评估韩国本土闭环或反向海淘。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2461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246120"/>
            <a:ext cx="109728" cy="2377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3319272"/>
            <a:ext cx="4937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一句话结论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65760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82E38"/>
                </a:solidFill>
                <a:latin typeface="PingFang SC"/>
              </a:defRPr>
            </a:pPr>
            <a:r>
              <a:t>把“韩国本地机会”当中长期 option，把“韩国主体做 SEA”当当前主战场。</a:t>
            </a:r>
          </a:p>
          <a:p>
            <a:pPr>
              <a:spcAft>
                <a:spcPts val="400"/>
              </a:spcAft>
              <a:defRPr sz="1400">
                <a:solidFill>
                  <a:srgbClr val="282E38"/>
                </a:solidFill>
                <a:latin typeface="PingFang SC"/>
              </a:defRPr>
            </a:pPr>
            <a:r>
              <a:t>如果你连选品、内容、履约都没跑通，先别上高监管本地站，容易烧钱。</a:t>
            </a:r>
          </a:p>
          <a:p>
            <a:pPr>
              <a:spcAft>
                <a:spcPts val="400"/>
              </a:spcAft>
              <a:defRPr sz="1400">
                <a:solidFill>
                  <a:srgbClr val="282E38"/>
                </a:solidFill>
                <a:latin typeface="PingFang SC"/>
              </a:defRPr>
            </a:pPr>
            <a:r>
              <a:t>需要练手平台时，可先用 Amazon 低难度站点做基本功。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2. 韩国 TikTok 市场格局：有机会，但别把它想得太成熟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09728" cy="210312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1704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市场判断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166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82E38"/>
                </a:solidFill>
                <a:latin typeface="PingFang SC"/>
              </a:defRPr>
            </a:pPr>
            <a:r>
              <a:t>韩国用户对短视频内容消费强，但电商心智长期被 Coupang、Naver、11Street 等平台教育。</a:t>
            </a:r>
          </a:p>
          <a:p>
            <a:pPr>
              <a:spcAft>
                <a:spcPts val="400"/>
              </a:spcAft>
              <a:defRPr sz="1400">
                <a:solidFill>
                  <a:srgbClr val="282E38"/>
                </a:solidFill>
                <a:latin typeface="PingFang SC"/>
              </a:defRPr>
            </a:pPr>
            <a:r>
              <a:t>TikTok 的优势是“内容驱动冲动购买”，不是“搜索驱动的标准化货架”。</a:t>
            </a:r>
          </a:p>
          <a:p>
            <a:pPr>
              <a:spcAft>
                <a:spcPts val="400"/>
              </a:spcAft>
              <a:defRPr sz="1400">
                <a:solidFill>
                  <a:srgbClr val="282E38"/>
                </a:solidFill>
                <a:latin typeface="PingFang SC"/>
              </a:defRPr>
            </a:pPr>
            <a:r>
              <a:t>因此：爆品机会存在，但转化效率、履约体验、平台规则波动都比成熟货架平台更敏感。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97280"/>
            <a:ext cx="109728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1704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风险提示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166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82E38"/>
                </a:solidFill>
                <a:latin typeface="PingFang SC"/>
              </a:defRPr>
            </a:pPr>
            <a:r>
              <a:t>不要把“韩国用户喜欢 TikTok”直接等同于“韩国本土 TikTok Shop 已完全成熟”。</a:t>
            </a:r>
          </a:p>
          <a:p>
            <a:pPr>
              <a:spcAft>
                <a:spcPts val="400"/>
              </a:spcAft>
              <a:defRPr sz="1400">
                <a:solidFill>
                  <a:srgbClr val="282E38"/>
                </a:solidFill>
                <a:latin typeface="PingFang SC"/>
              </a:defRPr>
            </a:pPr>
            <a:r>
              <a:t>支付、物流、税务、消费者保护、平台灰度开放节奏，都可能影响落地细节。</a:t>
            </a:r>
          </a:p>
          <a:p>
            <a:pPr>
              <a:spcAft>
                <a:spcPts val="400"/>
              </a:spcAft>
              <a:defRPr sz="1400">
                <a:solidFill>
                  <a:srgbClr val="282E38"/>
                </a:solidFill>
                <a:latin typeface="PingFang SC"/>
              </a:defRPr>
            </a:pPr>
            <a:r>
              <a:t>凡是涉及韩国本土闭环能力，必须按最新官方 Seller Center 页面/邀请政策复核。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1099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474720"/>
            <a:ext cx="109728" cy="192024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547872"/>
            <a:ext cx="10835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操盘建议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韩国市场更适合：高颜值家居、生活方式、轻小件配饰、宠物用品、礼品类、非强功效型美妆工具。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不适合新手：功能性化妆品、食品保健、儿童用品、带认证的电子产品、任何灰色 IP 周边。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先用“内容测试→小单履约→复购验证”跑通，再谈扩仓、扩人、扩国家。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272"/>
                </a:solidFill>
                <a:latin typeface="PingFang SC"/>
              </a:rPr>
              <a:t>韩国TikTok Shop从0到1指南 v2.0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3. Korea → SEA Cross-border：当前最可执行的主路径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9728" cy="2194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16152"/>
            <a:ext cx="4983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为什么它是主路径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82E38"/>
                </a:solidFill>
                <a:latin typeface="PingFang SC"/>
              </a:defRPr>
            </a:pPr>
            <a:r>
              <a:t>相比韩国本土闭环，SEA 市场对“内容电商 + 跨境履约”接受度更高。</a:t>
            </a:r>
          </a:p>
          <a:p>
            <a:pPr>
              <a:spcAft>
                <a:spcPts val="400"/>
              </a:spcAft>
              <a:defRPr sz="1400">
                <a:solidFill>
                  <a:srgbClr val="282E38"/>
                </a:solidFill>
                <a:latin typeface="PingFang SC"/>
              </a:defRPr>
            </a:pPr>
            <a:r>
              <a:t>韩国主体切入，能借“韩系审美/韩货心智/韩国公司背书”做差异化。</a:t>
            </a:r>
          </a:p>
          <a:p>
            <a:pPr>
              <a:spcAft>
                <a:spcPts val="400"/>
              </a:spcAft>
              <a:defRPr sz="1400">
                <a:solidFill>
                  <a:srgbClr val="282E38"/>
                </a:solidFill>
                <a:latin typeface="PingFang SC"/>
              </a:defRPr>
            </a:pPr>
            <a:r>
              <a:t>新手最重要的是跑通模型，不是第一天就挑战最复杂监管。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143000"/>
            <a:ext cx="5486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143000"/>
            <a:ext cx="109728" cy="2194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21615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推荐打法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5166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82E38"/>
                </a:solidFill>
                <a:latin typeface="PingFang SC"/>
              </a:defRPr>
            </a:pPr>
            <a:r>
              <a:t>先选 1–2 个国家做 MVP，不建议一开始同时开太多市场。</a:t>
            </a:r>
          </a:p>
          <a:p>
            <a:pPr>
              <a:spcAft>
                <a:spcPts val="400"/>
              </a:spcAft>
              <a:defRPr sz="1400">
                <a:solidFill>
                  <a:srgbClr val="282E38"/>
                </a:solidFill>
                <a:latin typeface="PingFang SC"/>
              </a:defRPr>
            </a:pPr>
            <a:r>
              <a:t>优先轻小件、低售后、内容好演示的 SKU：家居小工具、收纳、宠物、小配件。</a:t>
            </a:r>
          </a:p>
          <a:p>
            <a:pPr>
              <a:spcAft>
                <a:spcPts val="400"/>
              </a:spcAft>
              <a:defRPr sz="1400">
                <a:solidFill>
                  <a:srgbClr val="282E38"/>
                </a:solidFill>
                <a:latin typeface="PingFang SC"/>
              </a:defRPr>
            </a:pPr>
            <a:r>
              <a:t>使用统一素材底稿，再按越南/泰国/菲律宾语言与价格带做二次本地化。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11880"/>
            <a:ext cx="10972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611880"/>
            <a:ext cx="109728" cy="1828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68503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底线提醒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10652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SEA 跨境“可执行”不等于“无门槛”：仍然要验证站点开放资格、跨境收款、类目限制、当地税务与进口要求。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如果官方路径更新，优先看 TikTok 官方入驻页和 Seller Academy，而不是中介口径。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272"/>
                </a:solidFill>
                <a:latin typeface="PingFang SC"/>
              </a:rPr>
              <a:t>韩国TikTok Shop从0到1指南 v2.0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4. 费用结构：先算毛利，再谈起盘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219456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21031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成本项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1143000"/>
            <a:ext cx="292608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1188720"/>
            <a:ext cx="2834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常见区间/判断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143000"/>
            <a:ext cx="274320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440" y="1188720"/>
            <a:ext cx="2651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关键备注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1143000"/>
            <a:ext cx="297180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1188720"/>
            <a:ext cx="2880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新手建议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18488"/>
            <a:ext cx="219456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64208"/>
            <a:ext cx="21031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62B33"/>
                </a:solidFill>
                <a:latin typeface="PingFang SC"/>
              </a:rPr>
              <a:t>平台佣金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1618488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1664208"/>
            <a:ext cx="2834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2B33"/>
                </a:solidFill>
                <a:latin typeface="PingFang SC"/>
              </a:rPr>
              <a:t>按站点/类目浮动，常见约 2%–15%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1618488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1664208"/>
            <a:ext cx="2651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2B33"/>
                </a:solidFill>
                <a:latin typeface="PingFang SC"/>
              </a:rPr>
              <a:t>以官方费率表为准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618488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664208"/>
            <a:ext cx="2880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2B33"/>
                </a:solidFill>
                <a:latin typeface="PingFang SC"/>
              </a:rPr>
              <a:t>测品时按高值预估，别按最低值算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093976"/>
            <a:ext cx="219456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139696"/>
            <a:ext cx="21031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62B33"/>
                </a:solidFill>
                <a:latin typeface="PingFang SC"/>
              </a:rPr>
              <a:t>支付/收款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2093976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360" y="2139696"/>
            <a:ext cx="2834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2B33"/>
                </a:solidFill>
                <a:latin typeface="PingFang SC"/>
              </a:rPr>
              <a:t>支付处理+提现+汇损合计常见 2%–4%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2093976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6440" y="2139696"/>
            <a:ext cx="2651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2B33"/>
                </a:solidFill>
                <a:latin typeface="PingFang SC"/>
              </a:rPr>
              <a:t>不同 PSP / 币种差异大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2093976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2139696"/>
            <a:ext cx="2880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2B33"/>
                </a:solidFill>
                <a:latin typeface="PingFang SC"/>
              </a:rPr>
              <a:t>必须把汇率损耗单独列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569464"/>
            <a:ext cx="219456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2615184"/>
            <a:ext cx="21031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62B33"/>
                </a:solidFill>
                <a:latin typeface="PingFang SC"/>
              </a:rPr>
              <a:t>物流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2569464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80360" y="2615184"/>
            <a:ext cx="2834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2B33"/>
                </a:solidFill>
                <a:latin typeface="PingFang SC"/>
              </a:rPr>
              <a:t>跨境头程 + 尾程 + 逆向退货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0" y="2569464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6440" y="2615184"/>
            <a:ext cx="2651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2B33"/>
                </a:solidFill>
                <a:latin typeface="PingFang SC"/>
              </a:rPr>
              <a:t>低客单价最容易被物流吃掉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20" y="2569464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2615184"/>
            <a:ext cx="2880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2B33"/>
                </a:solidFill>
                <a:latin typeface="PingFang SC"/>
              </a:rPr>
              <a:t>轻小件优先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044952"/>
            <a:ext cx="219456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090672"/>
            <a:ext cx="21031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62B33"/>
                </a:solidFill>
                <a:latin typeface="PingFang SC"/>
              </a:rPr>
              <a:t>内容投放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3044952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80360" y="3090672"/>
            <a:ext cx="2834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2B33"/>
                </a:solidFill>
                <a:latin typeface="PingFang SC"/>
              </a:rPr>
              <a:t>短视频样品 / 达人佣金 / 广告加热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0" y="3044952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06440" y="3090672"/>
            <a:ext cx="2651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2B33"/>
                </a:solidFill>
                <a:latin typeface="PingFang SC"/>
              </a:rPr>
              <a:t>经常被新手低估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3044952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3090672"/>
            <a:ext cx="2880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2B33"/>
                </a:solidFill>
                <a:latin typeface="PingFang SC"/>
              </a:rPr>
              <a:t>至少预留首月试错预算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3520440"/>
            <a:ext cx="219456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3566160"/>
            <a:ext cx="21031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62B33"/>
                </a:solidFill>
                <a:latin typeface="PingFang SC"/>
              </a:rPr>
              <a:t>仓储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4640" y="3520440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80360" y="3566160"/>
            <a:ext cx="2834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2B33"/>
                </a:solidFill>
                <a:latin typeface="PingFang SC"/>
              </a:rPr>
              <a:t>韩国本地仓更快但更贵；跨境仓更灵活但时效弱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60720" y="3520440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06440" y="3566160"/>
            <a:ext cx="2651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2B33"/>
                </a:solidFill>
                <a:latin typeface="PingFang SC"/>
              </a:rPr>
              <a:t>按周转率算，不只看单价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03920" y="3520440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49640" y="3566160"/>
            <a:ext cx="2880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2B33"/>
                </a:solidFill>
                <a:latin typeface="PingFang SC"/>
              </a:rPr>
              <a:t>先小量试仓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4434840"/>
            <a:ext cx="10972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58368" y="4434840"/>
            <a:ext cx="109728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536" y="450799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免责声明（必须强化）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968" y="4846320"/>
            <a:ext cx="10652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82E38"/>
                </a:solidFill>
                <a:latin typeface="PingFang SC"/>
              </a:defRPr>
            </a:pPr>
            <a:r>
              <a:t>P5 已删除“必须接入 Naver Pay / KakaoPay”的错误表述。它们很重要，但是否必须接入，取决于站点开放能力、服务商和当期平台配置，不可绝对化。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272"/>
                </a:solidFill>
                <a:latin typeface="PingFang SC"/>
              </a:rPr>
              <a:t>韩国TikTok Shop从0到1指南 v2.0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5. 新手适合品类 vs 不适合品类（新增）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3891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适合新手切入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983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家居收纳 / 厨房小工具：内容展示直观，决策快。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手机壳、桌面配件、线材收纳：轻、小、易寄。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宠物玩具/宠物清洁小用品：复购潜力强。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礼品、小饰品、节日氛围商品：容易做情绪价值内容。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非功能性美妆工具：如化妆刷收纳、美妆镜、发饰。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97280"/>
            <a:ext cx="109728" cy="4389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1704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不适合新手切入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166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功能性化妆品：涉及 MFDS/宣称/成分风险，新手不要从这里开局。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食品、保健品、儿童用品：高投诉 + 高监管。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带电/无线/认证类电子：认证、售后、运输都麻烦。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服装鞋靴：尺码退货和库存压力大。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非授权 K-Pop 周边 / 擦边 IP：侵权风险高，已明确删除。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272"/>
                </a:solidFill>
                <a:latin typeface="PingFang SC"/>
              </a:rPr>
              <a:t>韩国TikTok Shop从0到1指南 v2.0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6. 韩国企业注册流程：先把主体搭稳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170432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流程顺序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3154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1) 确认签证/身份允许创业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2) 设立个人事业者或法人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3) 开企业银行账户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4) 准备税务登记/发票/合同模板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5) 准备 TikTok / 收款 / 仓配资料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0972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170432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常见材料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508760"/>
            <a:ext cx="3154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营业执照/法人资料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韩国手机号与联系邮箱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银行账户与可扣费信用卡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受益所有人/实际经营人信息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办公地址、退货地址、经营范围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972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097280"/>
            <a:ext cx="109728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170432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常见踩坑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508760"/>
            <a:ext cx="3154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以不具备经营资格的签证身份直接开店。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主体、收款、仓库、联系人信息不一致。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把个人账户拿来收商业流水。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没把税务代理和后续申报安排好就先开卖。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272"/>
                </a:solidFill>
                <a:latin typeface="PingFang SC"/>
              </a:rPr>
              <a:t>韩国TikTok Shop从0到1指南 v2.0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7. TikTok Shop 入驻（A）：SEA 跨境版，可执行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728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170432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建议流程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983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确认韩国主体是否满足当前跨境站点开放条件。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准备企业资料、联系人、收款账户、退货地址、主营类目说明。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先开 1–2 个目标市场，优先菲律宾/泰国等更适合练手的站点。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先上 10–20 个标准化 SKU，配合 20–30 条测试素材跑点击与转化。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把客服 SLA、逆向退货和差评 SOP 同时搭起来。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170432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审核重点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4983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主体真实性、类目适配、素材合规、物流承诺和收款链路。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高风险词：功效夸大、医疗暗示、侵权素材、灰色品牌擦边。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如果走服务商/代运营路径，必须分清：谁是店铺主体，谁负责税务，谁承担违规。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272"/>
                </a:solidFill>
                <a:latin typeface="PingFang SC"/>
              </a:rPr>
              <a:t>韩国TikTok Shop从0到1指南 v2.0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8. TikTok Shop 入驻（B）：韩国本土版，暂按“待官方定型”处理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9728" cy="44805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170432"/>
            <a:ext cx="4937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为什么要单独拆页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4892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v1.2 最大问题就是把“韩国本土站”与“韩国主体做 SEA”混为一谈。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韩国本土闭环涉及更强的本地支付、物流、客服、消费者保护与税务能力。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而且平台开放节奏、具体规则披露，可能阶段性变化。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97280"/>
            <a:ext cx="109728" cy="4480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170432"/>
            <a:ext cx="4937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当前正确说法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892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可以持续关注，但不要把它当成当前新手的默认入口。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任何“已经完全开放、流程固定、某支付方式必须接入”的说法，都要重新核验。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若你已经有韩国本地仓、韩语客服、税务与退货能力，再考虑试点。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272"/>
                </a:solidFill>
                <a:latin typeface="PingFang SC"/>
              </a:rPr>
              <a:t>韩国TikTok Shop从0到1指南 v2.0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9. 仓储与物流：速度是转化率的一部分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方案 A：韩国本地仓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337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优点：时效快、退货处理顺、用户体验更稳定。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缺点：压货、仓租、尾程、库存不准都会吃利润。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适合：爆款验证后，稳定周销再上。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09728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170432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方案 B：跨境直发 / 中转仓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508760"/>
            <a:ext cx="3337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优点：试错便宜，适合前期测品。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缺点：时效慢、退货难、体验差。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适合：轻小件、小批量、多款测试。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097280"/>
            <a:ext cx="3200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1097280"/>
            <a:ext cx="109728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13648" y="1170432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物流 KPI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1508760"/>
            <a:ext cx="2880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准时发货率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签收时效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破损率/丢件率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逆向退货成本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因物流导致的差评率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272"/>
                </a:solidFill>
                <a:latin typeface="PingFang SC"/>
              </a:rPr>
              <a:t>韩国TikTok Shop从0到1指南 v2.0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10. 内容创作：不是把中文视频翻成韩文就行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394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9728" cy="438912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16152"/>
            <a:ext cx="5120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本地化细节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5074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前 3 秒必须更快：韩国用户刷得快，开场要直接给结果、反差或痛点。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镜头语言要更干净：少土味字幕，多生活方式表达。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评论区脚本要提前写：常见质疑、发货时效、退换政策必须有人设化回复。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同一条素材至少做 3 个版本：封面、开头、价格锚点不同。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257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143000"/>
            <a:ext cx="109728" cy="43891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1216152"/>
            <a:ext cx="4983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内容选题模板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Before / After（使用前后）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痛点实测（真的省时间吗？）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韩国生活方式场景化（宿舍/厨房/办公桌）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礼物/节日/情侣/宠物等高分享场景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UGC 口碑二创，而不是纯硬广堆砌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272"/>
                </a:solidFill>
                <a:latin typeface="PingFang SC"/>
              </a:rPr>
              <a:t>韩国TikTok Shop从0到1指南 v2.0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11. 客服与售后：差评不是客服问题，是系统问题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5349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客服体系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设定 24 小时内响应目标；高峰期要有 FAQ + AI + 人工兜底。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把发货、延误、退款、换货、质保话术标准化。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敏感投诉必须升级：物流破损、功效争议、侵权投诉、平台处罚。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49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109728" cy="4480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17043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售后底线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先定义“哪些商品支持无理由、哪些只能质量退”。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发货前拍照/录视频留档，给恶意退货留证据。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把差评原因归因到 SKU、素材、物流、客服四类，而不是只怪客服。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272"/>
                </a:solidFill>
                <a:latin typeface="PingFang SC"/>
              </a:rPr>
              <a:t>韩国TikTok Shop从0到1指南 v2.0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12. 财务合规与 VAT：这页必须比 v1.2 更谨慎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0972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核心免责声明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10652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VAT / GST / 销售税规则会因主体所在地、仓储地、销售地、平台代扣模式、进口申报方式而变化。下面仅作经营判断框架，不构成税务意见；正式开卖前，必须让韩国税务师 + 目标市场本地顾问复核。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109728" cy="210312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319272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实操重点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4983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主体、收款、开票、报税口径要统一。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跨境平台代扣 ≠ 你可以完全不管税务台账。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每周看毛利，不要等季度报税才发现亏损。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246120"/>
            <a:ext cx="53949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246120"/>
            <a:ext cx="109728" cy="2103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3319272"/>
            <a:ext cx="5120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红线提醒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657600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个人账户收商业款、混用公私流水、虚报货值、拿“代扣税”当全部税务答案，都是高危操作。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英国/美国亚马逊还涉及 VAT / Sales Tax、EPR、进口商记录等额外问题。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272"/>
                </a:solidFill>
                <a:latin typeface="PingFang SC"/>
              </a:rPr>
              <a:t>韩国TikTok Shop从0到1指南 v2.0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13. 新手冷启动 Q&amp;A：先求跑通，不求一步到位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3291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Q1：0 单正常吗？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246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正常。新号需要时间建立标签。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先看点击率、完播率、加购率，不要只看出单。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同款 3–5 个素材版本轮测。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09728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170432"/>
            <a:ext cx="3291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Q2：要不要先投广告？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508760"/>
            <a:ext cx="3246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可以，但只给“已经有自然点击苗头”的素材加热。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不要拿广告去救一个没有内容吸引力的产品。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先设止损线。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09728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097280"/>
            <a:ext cx="109728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117043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Q3：多久扩品/扩站？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508760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至少先跑出 1 个可复制 SKU。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单店 SOP 稳定后再扩国家。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没有后台数据就扩张，通常死得更快。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272"/>
                </a:solidFill>
                <a:latin typeface="PingFang SC"/>
              </a:rPr>
              <a:t>韩国TikTok Shop从0到1指南 v2.0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14. 恶意退货 / 恶意投诉应对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3492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9728" cy="4389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1615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恶意退货 SOP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高风险商品打包全程留档。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收回退货时开箱录像、称重、拍细节。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把“可二次销售 / 不可二次销售”标准写清。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证据链齐全后通过平台工单申诉。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3492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109728" cy="438912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21615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恶意投诉 SOP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先分类型：侵权、虚假宣传、竞品举报、物流时效。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侵权类先下架核查，不要嘴硬。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能提供原创素材、授权书、供货链证明的，胜率更高。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维权记录要沉淀成内部黑名单与素材库。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272"/>
                </a:solidFill>
                <a:latin typeface="PingFang SC"/>
              </a:rPr>
              <a:t>韩国TikTok Shop从0到1指南 v2.0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15. 华人身份合规：F-5 是重点，但不是唯一答案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480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高风险身份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337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D-2 / D-4 / D-10 等通常不适合直接从事盈利经营。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不要用侥幸心理拿别人主体、自己暗中经营。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签证问题比店铺问题更严重。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09728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170432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相对稳妥身份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508760"/>
            <a:ext cx="3337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F-5（永驻）通常具备较强经营稳定性。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F-6、部分 F-2 类型通常更适合创业，但仍需核对个人条件。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最稳的做法：先确认身份权限，再注册主体。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097280"/>
            <a:ext cx="3200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1097280"/>
            <a:ext cx="109728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13648" y="1170432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一句提醒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1508760"/>
            <a:ext cx="2880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主体合规 &gt; 选品速度。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别为了快，把签证和税务埋雷。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272"/>
                </a:solidFill>
                <a:latin typeface="PingFang SC"/>
              </a:rPr>
              <a:t>韩国TikTok Shop从0到1指南 v2.0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16. 华人双向机遇：韩国→SEA / 反向海淘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3492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9728" cy="43891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1615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方向 1：韩国→SEA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卖“韩系审美 + 韩国主体背书 + 内容电商表达”。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适合做家居、配件、宠物、小礼品、非功效型美妆工具。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重点是多语言内容和跨境履约，而不是压大库存。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3492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109728" cy="438912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21615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方向 2：韩国→中国反向海淘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适合小众品牌、线下发现、买手式内容。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玩法是内容种草 + 预售/代发，不一定依赖 TikTok Shop。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优点是更懂中韩语言与文化落差，容易做出差异化内容。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272"/>
                </a:solidFill>
                <a:latin typeface="PingFang SC"/>
              </a:rPr>
              <a:t>韩国TikTok Shop从0到1指南 v2.0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17. 建议时间表：别把 2 个月的事想成 2 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201168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9202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阶段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143000"/>
            <a:ext cx="365760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80" y="1188720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目标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43000"/>
            <a:ext cx="283464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188720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关键动作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143000"/>
            <a:ext cx="265176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1188720"/>
            <a:ext cx="2560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通过标准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18488"/>
            <a:ext cx="201168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64208"/>
            <a:ext cx="19202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62B33"/>
                </a:solidFill>
                <a:latin typeface="PingFang SC"/>
              </a:rPr>
              <a:t>第 1–2 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618488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1664208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2B33"/>
                </a:solidFill>
                <a:latin typeface="PingFang SC"/>
              </a:rPr>
              <a:t>确定路径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618488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664208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2B33"/>
                </a:solidFill>
                <a:latin typeface="PingFang SC"/>
              </a:rPr>
              <a:t>身份核查、主体准备、市场选择、预算表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618488"/>
            <a:ext cx="2651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664208"/>
            <a:ext cx="2560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2B33"/>
                </a:solidFill>
                <a:latin typeface="PingFang SC"/>
              </a:rPr>
              <a:t>知道先做哪条路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093976"/>
            <a:ext cx="201168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139696"/>
            <a:ext cx="19202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62B33"/>
                </a:solidFill>
                <a:latin typeface="PingFang SC"/>
              </a:rPr>
              <a:t>第 3–6 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2093976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80" y="2139696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2B33"/>
                </a:solidFill>
                <a:latin typeface="PingFang SC"/>
              </a:rPr>
              <a:t>完成准备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093976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139696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2B33"/>
                </a:solidFill>
                <a:latin typeface="PingFang SC"/>
              </a:rPr>
              <a:t>开主体/收款/物流方案/素材规划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2093976"/>
            <a:ext cx="2651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2139696"/>
            <a:ext cx="2560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2B33"/>
                </a:solidFill>
                <a:latin typeface="PingFang SC"/>
              </a:rPr>
              <a:t>能提交入驻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569464"/>
            <a:ext cx="201168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2615184"/>
            <a:ext cx="19202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62B33"/>
                </a:solidFill>
                <a:latin typeface="PingFang SC"/>
              </a:rPr>
              <a:t>第 2–3 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2569464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80" y="2615184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2B33"/>
                </a:solidFill>
                <a:latin typeface="PingFang SC"/>
              </a:rPr>
              <a:t>冷启动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569464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2615184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2B33"/>
                </a:solidFill>
                <a:latin typeface="PingFang SC"/>
              </a:rPr>
              <a:t>上 SKU、拍素材、测广告、跑客服 SOP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2569464"/>
            <a:ext cx="2651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2615184"/>
            <a:ext cx="2560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2B33"/>
                </a:solidFill>
                <a:latin typeface="PingFang SC"/>
              </a:rPr>
              <a:t>出现首批稳定订单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044952"/>
            <a:ext cx="201168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090672"/>
            <a:ext cx="19202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62B33"/>
                </a:solidFill>
                <a:latin typeface="PingFang SC"/>
              </a:rPr>
              <a:t>第 3–4 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3044952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97480" y="3090672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2B33"/>
                </a:solidFill>
                <a:latin typeface="PingFang SC"/>
              </a:rPr>
              <a:t>优化模型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044952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3090672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2B33"/>
                </a:solidFill>
                <a:latin typeface="PingFang SC"/>
              </a:rPr>
              <a:t>砍差品、补高转化品、优化履约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044952"/>
            <a:ext cx="2651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3090672"/>
            <a:ext cx="2560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2B33"/>
                </a:solidFill>
                <a:latin typeface="PingFang SC"/>
              </a:rPr>
              <a:t>毛利结构变清晰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3520440"/>
            <a:ext cx="201168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3566160"/>
            <a:ext cx="19202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62B33"/>
                </a:solidFill>
                <a:latin typeface="PingFang SC"/>
              </a:rPr>
              <a:t>第 4 月以后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51760" y="3520440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97480" y="3566160"/>
            <a:ext cx="3566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2B33"/>
                </a:solidFill>
                <a:latin typeface="PingFang SC"/>
              </a:rPr>
              <a:t>放大复制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3520440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566160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2B33"/>
                </a:solidFill>
                <a:latin typeface="PingFang SC"/>
              </a:rPr>
              <a:t>扩站点、扩达人、扩库存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0" y="3520440"/>
            <a:ext cx="2651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89720" y="3566160"/>
            <a:ext cx="2560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2B33"/>
                </a:solidFill>
                <a:latin typeface="PingFang SC"/>
              </a:rPr>
              <a:t>在已有利润上扩张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272"/>
                </a:solidFill>
                <a:latin typeface="PingFang SC"/>
              </a:rPr>
              <a:t>韩国TikTok Shop从0到1指南 v2.0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18. 开业核对清单：分层做，不要一起炸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6576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57200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开店前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337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身份/签证是否允许经营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主体、银行、收款是否打通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目标市场与目标品类是否选定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税务代理 / 记账方案是否确定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097280"/>
            <a:ext cx="36576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097280"/>
            <a:ext cx="109728" cy="45720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170432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出单前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508760"/>
            <a:ext cx="3337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至少 10–20 个可卖 SKU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至少 20–30 条素材底稿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客服 FAQ / 退换货规则 / 差评 SOP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发货时效与退货地址写清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097280"/>
            <a:ext cx="3200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1097280"/>
            <a:ext cx="109728" cy="457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13648" y="1170432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放大前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1508760"/>
            <a:ext cx="2880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已有盈利 SKU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退款率/投诉率可控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广告投产比可验证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现金流能覆盖补货周期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272"/>
                </a:solidFill>
                <a:latin typeface="PingFang SC"/>
              </a:rPr>
              <a:t>韩国TikTok Shop从0到1指南 v2.0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19. 亚马逊 5 国机会对比（新增）：把“市场”与“卖家来源地”分清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100584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914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国家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1097280"/>
            <a:ext cx="192024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143000"/>
            <a:ext cx="1828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市场成熟度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097280"/>
            <a:ext cx="141732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143000"/>
            <a:ext cx="13258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入驻难度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256032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143000"/>
            <a:ext cx="24688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费用/模式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1097280"/>
            <a:ext cx="214884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1143000"/>
            <a:ext cx="2057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热门方向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72600" y="1097280"/>
            <a:ext cx="251460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143000"/>
            <a:ext cx="2423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对华人卖家友好度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572768"/>
            <a:ext cx="100584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618488"/>
            <a:ext cx="914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62B33"/>
                </a:solidFill>
                <a:latin typeface="PingFang SC"/>
              </a:rPr>
              <a:t>菲律宾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5880" y="1572768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1618488"/>
            <a:ext cx="1828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62B33"/>
                </a:solidFill>
                <a:latin typeface="PingFang SC"/>
              </a:rPr>
              <a:t>无本地 Amazon 站；更像卖家来源地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572768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1618488"/>
            <a:ext cx="13258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62B33"/>
                </a:solidFill>
                <a:latin typeface="PingFang SC"/>
              </a:rPr>
              <a:t>个人中低 / 企业中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572768"/>
            <a:ext cx="2560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1618488"/>
            <a:ext cx="24688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62B33"/>
                </a:solidFill>
                <a:latin typeface="PingFang SC"/>
              </a:rPr>
              <a:t>做 US/UK 站为主；月费按目标站点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1572768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1618488"/>
            <a:ext cx="2057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62B33"/>
                </a:solidFill>
                <a:latin typeface="PingFang SC"/>
              </a:rPr>
              <a:t>家居、轻小件、OEM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72600" y="1572768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618488"/>
            <a:ext cx="2423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62B33"/>
                </a:solidFill>
                <a:latin typeface="PingFang SC"/>
              </a:rPr>
              <a:t>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048256"/>
            <a:ext cx="100584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2093976"/>
            <a:ext cx="914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62B33"/>
                </a:solidFill>
                <a:latin typeface="PingFang SC"/>
              </a:rPr>
              <a:t>泰国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25880" y="2048256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2093976"/>
            <a:ext cx="1828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62B33"/>
                </a:solidFill>
                <a:latin typeface="PingFang SC"/>
              </a:rPr>
              <a:t>无本地站；供应链与工厂资源好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2048256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0" y="2093976"/>
            <a:ext cx="13258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62B33"/>
                </a:solidFill>
                <a:latin typeface="PingFang SC"/>
              </a:rPr>
              <a:t>个人中 / 企业中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2048256"/>
            <a:ext cx="2560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09160" y="2093976"/>
            <a:ext cx="24688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62B33"/>
                </a:solidFill>
                <a:latin typeface="PingFang SC"/>
              </a:rPr>
              <a:t>适合供货到 US/UK/JP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3760" y="2048256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9480" y="2093976"/>
            <a:ext cx="2057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62B33"/>
                </a:solidFill>
                <a:latin typeface="PingFang SC"/>
              </a:rPr>
              <a:t>家居、汽配、宠物、手工类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72600" y="2048256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20" y="2093976"/>
            <a:ext cx="2423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62B33"/>
                </a:solidFill>
                <a:latin typeface="PingFang SC"/>
              </a:rPr>
              <a:t>中高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2523744"/>
            <a:ext cx="100584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2569464"/>
            <a:ext cx="914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62B33"/>
                </a:solidFill>
                <a:latin typeface="PingFang SC"/>
              </a:rPr>
              <a:t>越南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25880" y="2523744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0" y="2569464"/>
            <a:ext cx="1828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62B33"/>
                </a:solidFill>
                <a:latin typeface="PingFang SC"/>
              </a:rPr>
              <a:t>无本地站；制造增长快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46120" y="2523744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2569464"/>
            <a:ext cx="13258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62B33"/>
                </a:solidFill>
                <a:latin typeface="PingFang SC"/>
              </a:rPr>
              <a:t>个人中 / 企业中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63440" y="2523744"/>
            <a:ext cx="2560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09160" y="2569464"/>
            <a:ext cx="24688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62B33"/>
                </a:solidFill>
                <a:latin typeface="PingFang SC"/>
              </a:rPr>
              <a:t>适合跨境卖全球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23760" y="2523744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69480" y="2569464"/>
            <a:ext cx="2057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62B33"/>
                </a:solidFill>
                <a:latin typeface="PingFang SC"/>
              </a:rPr>
              <a:t>家具、家居、纺织、户外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72600" y="2523744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18320" y="2569464"/>
            <a:ext cx="2423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62B33"/>
                </a:solidFill>
                <a:latin typeface="PingFang SC"/>
              </a:rPr>
              <a:t>中高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2999232"/>
            <a:ext cx="100584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3044952"/>
            <a:ext cx="914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62B33"/>
                </a:solidFill>
                <a:latin typeface="PingFang SC"/>
              </a:rPr>
              <a:t>英国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25880" y="2999232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71600" y="3044952"/>
            <a:ext cx="1828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62B33"/>
                </a:solidFill>
                <a:latin typeface="PingFang SC"/>
              </a:rPr>
              <a:t>成熟站点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46120" y="2999232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91840" y="3044952"/>
            <a:ext cx="13258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62B33"/>
                </a:solidFill>
                <a:latin typeface="PingFang SC"/>
              </a:rPr>
              <a:t>个人中 / 企业中高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63440" y="2999232"/>
            <a:ext cx="2560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09160" y="3044952"/>
            <a:ext cx="24688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62B33"/>
                </a:solidFill>
                <a:latin typeface="PingFang SC"/>
              </a:rPr>
              <a:t>£0.75/件 或 £25/月+VAT；佣金多为 8%–15%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23760" y="2999232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69480" y="3044952"/>
            <a:ext cx="2057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62B33"/>
                </a:solidFill>
                <a:latin typeface="PingFang SC"/>
              </a:rPr>
              <a:t>家居、低价日用品、配件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72600" y="2999232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18320" y="3044952"/>
            <a:ext cx="2423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62B33"/>
                </a:solidFill>
                <a:latin typeface="PingFang SC"/>
              </a:rPr>
              <a:t>中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3474720"/>
            <a:ext cx="100584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3520440"/>
            <a:ext cx="914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62B33"/>
                </a:solidFill>
                <a:latin typeface="PingFang SC"/>
              </a:rPr>
              <a:t>美国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325880" y="3474720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71600" y="3520440"/>
            <a:ext cx="1828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62B33"/>
                </a:solidFill>
                <a:latin typeface="PingFang SC"/>
              </a:rPr>
              <a:t>最成熟、最大盘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46120" y="3474720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91840" y="3520440"/>
            <a:ext cx="13258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62B33"/>
                </a:solidFill>
                <a:latin typeface="PingFang SC"/>
              </a:rPr>
              <a:t>个人中 / 企业中高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63440" y="3474720"/>
            <a:ext cx="2560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09160" y="3520440"/>
            <a:ext cx="24688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62B33"/>
                </a:solidFill>
                <a:latin typeface="PingFang SC"/>
              </a:rPr>
              <a:t>$0.99/件 或 $39.99/月；佣金多为 8%–15%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223760" y="3474720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69480" y="3520440"/>
            <a:ext cx="20574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62B33"/>
                </a:solidFill>
                <a:latin typeface="PingFang SC"/>
              </a:rPr>
              <a:t>家居、配件、宠物、工具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372600" y="3474720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418320" y="3520440"/>
            <a:ext cx="2423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62B33"/>
                </a:solidFill>
                <a:latin typeface="PingFang SC"/>
              </a:rPr>
              <a:t>中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48640" y="4434840"/>
            <a:ext cx="11064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48640" y="4434840"/>
            <a:ext cx="109728" cy="1143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9808" y="450799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关键纠偏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7240" y="4846320"/>
            <a:ext cx="10744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82E38"/>
                </a:solidFill>
                <a:latin typeface="PingFang SC"/>
              </a:defRPr>
            </a:pPr>
            <a:r>
              <a:t>越南 / 泰国 / 菲律宾目前并不是“本地亚马逊消费大站”，而是更适合作为卖家来源地、供应链来源地或低成本练手起点。普通第三方卖家普遍不适用所谓 Refrigerated Storage；冷藏/冷冻多属特殊项目，不是新手常规路径。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272"/>
                </a:solidFill>
                <a:latin typeface="PingFang SC"/>
              </a:rPr>
              <a:t>费用参考：Amazon Sell US/UK 公共 pricing 页面；东南亚三国按“卖家来源地做全球站”口径整理。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20. 推荐练手顺序：菲律宾 → 泰国 → 越南 → 英国 → 美国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2344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92240" y="1234440"/>
            <a:ext cx="4937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0" y="1234440"/>
            <a:ext cx="109728" cy="4389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93408" y="1307592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排序逻辑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645920"/>
            <a:ext cx="4617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菲律宾：英语环境相对友好、练手心理门槛低。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泰国：供应链和跨境经验较多，竞争比美国轻。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越南：制造潜力强，但执行细节更吃本地资源。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英国：成熟但 VAT/EPR/欧洲合规复杂度更高。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美国：最大盘，也最卷、最贵、最需要系统能力。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272"/>
                </a:solidFill>
                <a:latin typeface="PingFang SC"/>
              </a:rPr>
              <a:t>韩国TikTok Shop从0到1指南 v2.0 · 仅供商业决策参考，最终以 TikTok / Amazon / 税务监管官方规则为准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PingFang SC"/>
              </a:rPr>
              <a:t>21. 学习资源 + 22. 结束页（行动清单）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建议盯住的官方资源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983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TikTok Shop Seller Center / Seller Academy：入驻、费率、政策更新。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Amazon Sell US / UK Pricing：月费、佣金、FBA费用。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韩国税务师/会计事务所：主体、VAT、跨境流水设计。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MFDS / 韩国国税厅 / 各市场海关与税务官网：高监管品类必须查原文。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170432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244A"/>
                </a:solidFill>
                <a:latin typeface="PingFang SC"/>
              </a:rPr>
              <a:t>现在就执行的 5 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4983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1) 先选路径：韩国本地 / SEA 跨境 / 反向海淘。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2) 先砍掉高监管品类，留下 3 个可测方向。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3) 用预算表算清：佣金、物流、汇损、退货。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4) 先做最小可行店铺，而不是豪华版店铺。</a:t>
            </a:r>
          </a:p>
          <a:p>
            <a:pPr>
              <a:spcAft>
                <a:spcPts val="400"/>
              </a:spcAft>
              <a:defRPr sz="1500">
                <a:solidFill>
                  <a:srgbClr val="282E38"/>
                </a:solidFill>
                <a:latin typeface="PingFang SC"/>
              </a:defRPr>
            </a:pPr>
            <a:r>
              <a:t>5) 若需要练手，优先从菲律宾 → 泰国 → 越南的亚马逊全球卖家路径开始。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9244A"/>
                </a:solidFill>
                <a:latin typeface="PingFang SC"/>
              </a:rPr>
              <a:t>一句结论：韩国本土机会可以看，但当前最现实的 0→1 路线，依然是“韩国主体 + SEA 跨境 + 低监管品类 + 小步快跑”。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272"/>
                </a:solidFill>
                <a:latin typeface="PingFang SC"/>
              </a:rPr>
              <a:t>End · v2.0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